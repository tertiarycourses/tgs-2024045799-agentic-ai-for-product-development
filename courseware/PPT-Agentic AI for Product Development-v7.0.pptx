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fit score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Static</c:v>
                </c:pt>
                <c:pt idx="1">
                  <c:v>Variable</c:v>
                </c:pt>
                <c:pt idx="2">
                  <c:v>Testable</c:v>
                </c:pt>
                <c:pt idx="3">
                  <c:v>Bounded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58</c:v>
                </c:pt>
                <c:pt idx="2">
                  <c:v>84</c:v>
                </c:pt>
                <c:pt idx="3">
                  <c:v>96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confidence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One source</c:v>
                </c:pt>
                <c:pt idx="1">
                  <c:v>Two sources</c:v>
                </c:pt>
                <c:pt idx="2">
                  <c:v>Conflict check</c:v>
                </c:pt>
                <c:pt idx="3">
                  <c:v>User 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62</c:v>
                </c:pt>
                <c:pt idx="2">
                  <c:v>79</c:v>
                </c:pt>
                <c:pt idx="3">
                  <c:v>94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risk index</c:v>
                </c:pt>
              </c:strCache>
            </c:strRef>
          </c:tx>
          <c:spPr>
            <a:solidFill>
              <a:srgbClr val="1875C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Data</c:v>
                </c:pt>
                <c:pt idx="1">
                  <c:v>Product</c:v>
                </c:pt>
                <c:pt idx="2">
                  <c:v>Technical</c:v>
                </c:pt>
                <c:pt idx="3">
                  <c:v>Governance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48</c:v>
                </c:pt>
                <c:pt idx="2">
                  <c:v>63</c:v>
                </c:pt>
                <c:pt idx="3">
                  <c:v>81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accepted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Idea</c:v>
                </c:pt>
                <c:pt idx="1">
                  <c:v>Problem</c:v>
                </c:pt>
                <c:pt idx="2">
                  <c:v>Constraints</c:v>
                </c:pt>
                <c:pt idx="3">
                  <c:v>Examples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58</c:v>
                </c:pt>
                <c:pt idx="2">
                  <c:v>77</c:v>
                </c:pt>
                <c:pt idx="3">
                  <c:v>91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passed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Demo</c:v>
                </c:pt>
                <c:pt idx="1">
                  <c:v>Core</c:v>
                </c:pt>
                <c:pt idx="2">
                  <c:v>Edge</c:v>
                </c:pt>
                <c:pt idx="3">
                  <c:v>Adversarial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81</c:v>
                </c:pt>
                <c:pt idx="2">
                  <c:v>62</c:v>
                </c:pt>
                <c:pt idx="3">
                  <c:v>43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index</c:v>
                </c:pt>
              </c:strCache>
            </c:strRef>
          </c:tx>
          <c:spPr>
            <a:solidFill>
              <a:srgbClr val="12936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Prompt</c:v>
                </c:pt>
                <c:pt idx="1">
                  <c:v>Single agent</c:v>
                </c:pt>
                <c:pt idx="2">
                  <c:v>Workflow</c:v>
                </c:pt>
                <c:pt idx="3">
                  <c:v>Multi-agent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51</c:v>
                </c:pt>
                <c:pt idx="3">
                  <c:v>78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confidence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Offline</c:v>
                </c:pt>
                <c:pt idx="1">
                  <c:v>Internal</c:v>
                </c:pt>
                <c:pt idx="2">
                  <c:v>Pilot</c:v>
                </c:pt>
                <c:pt idx="3">
                  <c:v>Expanded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61</c:v>
                </c:pt>
                <c:pt idx="2">
                  <c:v>79</c:v>
                </c:pt>
                <c:pt idx="3">
                  <c:v>93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 trace</c:v>
                </c:pt>
                <c:pt idx="1">
                  <c:v>Logs</c:v>
                </c:pt>
                <c:pt idx="2">
                  <c:v>Metrics</c:v>
                </c:pt>
                <c:pt idx="3">
                  <c:v>Linked alerts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66</c:v>
                </c:pt>
                <c:pt idx="2">
                  <c:v>41</c:v>
                </c:pt>
                <c:pt idx="3">
                  <c:v>18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review</c:v>
                </c:pt>
              </c:strCache>
            </c:strRef>
          </c:tx>
          <c:spPr>
            <a:solidFill>
              <a:srgbClr val="17ABB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Suggest</c:v>
                </c:pt>
                <c:pt idx="1">
                  <c:v>Draft</c:v>
                </c:pt>
                <c:pt idx="2">
                  <c:v>Commit</c:v>
                </c:pt>
                <c:pt idx="3">
                  <c:v>External action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67</c:v>
                </c:pt>
                <c:pt idx="3">
                  <c:v>100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DAE2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https://lms-tms.tertiaryinfotech.com/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https://exams.tertiaryinfotech.com/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https://github.com/tertiarycourses/TGS-2024045799-Agentic-AI-for-Product-Development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https://lms-tms.tertiaryinfotech.com/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https://www.anthropic.com/engineering/building-effective-agents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https://www.tertiarycourses.com.sg/wsq-agentic-ai-for-product-development.html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courseware synthesis; see final References slide and Learner Guide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exa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tertiarycourses/TGS-2024045799-Agentic-AI-for-Product-Developmen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chart" Target="../charts/char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chart" Target="../charts/char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Relationship Id="rId3" Type="http://schemas.openxmlformats.org/officeDocument/2006/relationships/chart" Target="../charts/chart4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Relationship Id="rId3" Type="http://schemas.openxmlformats.org/officeDocument/2006/relationships/chart" Target="../charts/chart5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Relationship Id="rId3" Type="http://schemas.openxmlformats.org/officeDocument/2006/relationships/chart" Target="../charts/char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Relationship Id="rId3" Type="http://schemas.openxmlformats.org/officeDocument/2006/relationships/chart" Target="../charts/char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Relationship Id="rId3" Type="http://schemas.openxmlformats.org/officeDocument/2006/relationships/chart" Target="../charts/chart8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Relationship Id="rId3" Type="http://schemas.openxmlformats.org/officeDocument/2006/relationships/chart" Target="../charts/chart9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3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253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WSQ • AUTOMATION MANAGEMENT IN PRODUCT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15568"/>
            <a:ext cx="528523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0D3056"/>
                </a:solidFill>
                <a:latin typeface="Arial"/>
              </a:rPr>
              <a:t>Agentic AI for Product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26080"/>
            <a:ext cx="5166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875C4"/>
                </a:solidFill>
                <a:latin typeface="Arial"/>
              </a:rPr>
              <a:t>Discover → design → deploy → 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1480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TGS-2024045799  |  v7.0  |  2 days / 16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736592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577"/>
                </a:solidFill>
                <a:latin typeface="Arial"/>
              </a:rPr>
              <a:t>Tertiary Infotech Academy Pte. Ltd.
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69864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Mechanism-led courseware • Twelve self-contained activities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Digital attendance via TRAQOM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Complete the attendance action before technical work begins.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Scan the trainer-provided QR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Confirm the correct course code and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your registered learner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Show the confirmation screen if requested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Trainer profile ·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Complete this profile before facilitating the agentic AI product-development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Name: 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Title / designation: 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Qualifications: 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5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AI product and facilitation experience: ____________________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Dr Alfred 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Principal Trainer,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Doctorate-level applied technology educator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AI, data, cloud and automation curriculum leadership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Industry-oriented assessment and implementation 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Focus: explainable, governed technical outcomes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Connect your existing role to one software or knowledge-work automation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Role and organisation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Current development or operations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One repeated process bottleneck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One risk you want the agent to control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Working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Use governed experimentation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Use synthetic or approved data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Never paste live secrets into prompts or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Keep consequential actions behind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Challenge completion claims with observable evidence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facts and competency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ICT-TEM-4035-1.1 Automation Management in Product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Course code: TGS-2024045799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Duration: 2 days / 16 training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Assessment: 2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Version: v7.0 / 11 September 2026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1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Evaluate opportunities and design evidence-grounded agentic product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Product opportunity and JTBD framing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Builder comparison and readiness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Research evidence and persona assumptions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Activities 01–06: discovery through AI-ready PRD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2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Optimise, deploy and govern an agentic product 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Prompt contracts, evaluation sets and iteration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Deployment architecture, security and human gates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KPI feedback loops and risk-adjusted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Activities 07–12 plus 2-hour assessment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At course completion, you can evaluate, optimise and govern an agentic product-development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2788920"/>
            <a:ext cx="9144000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11680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35224"/>
            <a:ext cx="824788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LO1 Evaluate agentic AI builders for product research and development, comparing strengths, limitations, resources and skills.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47088" y="3922776"/>
            <a:ext cx="9144000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11680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069080"/>
            <a:ext cx="824788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LO2 Apply optimisation techniques to improve the efficiency, quality and control of agentic product-development workflows.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5056631"/>
            <a:ext cx="9144000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11680" y="5266944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5266944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202936"/>
            <a:ext cx="824788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LO3 Evaluate the benefits and trade-offs of deploying agentic AI-powered product solutions and recommend a governed path forward.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Briefing for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Assessment evidence must show your own decisions and a functioning workflow contract.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Read every question and task before starting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the supplied synthetic case and lab artifacts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Show requested repository, diff and test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Do not cross an external or destructive boundary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and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Assessment is competence-based; course funding depends on current eligibility and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Written Assessment: 60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Practical Performance: 60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Course page lists support of up to 70% subject to eligibility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Check the current official course page before enrolment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The assessor evaluates knowledge evidence, workflow performance and product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Identity and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WA: K1–K6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PP: A1–A3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Outcome and follow-up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Download course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Use the LMS course record as the single verified entry point for learner materials.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Sign in at lms-tms.tertiaryinfotech.com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Open Agentic AI for Product 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Select Course Material and confirm TGS-2024045799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Download slides, Learner Guide and activity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6053328"/>
            <a:ext cx="8915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  <a:hlinkClick r:id="rId3"/>
              </a:rPr>
              <a:t>https://lms-tms.tertiaryinfotech.com/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Practice exam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Use only the practice or readiness activity assigned by the facilitator for this WSQ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Open exams.tertiaryinfotech.com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Sign in with the assigned learner 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Choose the facilitator-assigned readiness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Review explanations and return to the assessed activity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6053328"/>
            <a:ext cx="89154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  <a:hlinkClick r:id="rId3"/>
              </a:rPr>
              <a:t>https://exams.tertiaryinfotech.com/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activities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Twelve self-contained activity folders carry the complete end-to-end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Open the individual activity README/PDF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only the supplied mock data and YAML brief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Follow detailed steps in the Learner Guide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Record evidence in the folder checklist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806440"/>
            <a:ext cx="8915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875C4"/>
                </a:solidFill>
                <a:latin typeface="Arial"/>
                <a:hlinkClick r:id="rId3"/>
              </a:rPr>
              <a:t>https://github.com/tertiarycourses/TGS-2024045799-Agentic-AI-for-Product-Development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Evaluating Agentic AI Tools for Product Research and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Identify a product opportunity, map it to a suitable agentic pattern, and compare builders using evidence, readiness and total-cost criteria.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product decision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Agentic AI versus assistants: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AGENTIC PRODUCT LOOP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Evidence and opportunity scope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ABB7"/>
                </a:solidFill>
                <a:latin typeface="Arial"/>
              </a:rP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Outcome, users and constraints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Thin prototype and workflow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Evaluation and next 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roduct-discovery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Agentic AI versus assistants: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Require a multi-step loop, tool boundary and stop condition before calling a system agentic.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Agentic AI versus assistants: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Goal completion rate with valid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Trace showing plan, tool result and final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lifecycle application map: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Discover need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concept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Deliver prototype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Learn in market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hypothesis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artifact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feedback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Automation is applied everywhere without a clear decision or owner.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lifecycle application map: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Map each agent task to one lifecycle decision and accountable role.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lifecycle application map: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lifecycle stages with a named human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Lifecycle map with task-owner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Opportunity framing: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Observe friction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Quantify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Frame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target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team automates an interesting task that is not a material user problem.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Opportunity framing: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Start with observable friction and a measurable outcome, not a tool demonstration.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Opportunity framing: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Validated problem statements / total ideas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Opportunity brief with baseline and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Jobs-to-be-done lens: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Capture situation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Identify progress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Expose obstacle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success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situation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barrier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outcome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Personas become demographics without decision-relevant needs.</a:t>
            </a:r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Jobs-to-be-done lens: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Write needs as progress users seek in a real context.</a:t>
            </a:r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Jobs-to-be-done lens: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research observations linked to a user job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JTBD statement linked to verbatim research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Research-agent pattern: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Gather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Triangulate claims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Synthesize insight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produces polished synthesis from weak or circular evidence.</a:t>
            </a:r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Research-agent pattern: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Require source provenance, claim-level support and uncertainty labels.</a:t>
            </a:r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Research-agent pattern: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material claims supported by two independent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Research ledger and cited insight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Competitor intelligence workflow: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peers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Freeze criteria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Collect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Compare gaps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criterion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Different evidence standards make the comparison misleading.</a:t>
            </a:r>
          </a:p>
        </p:txBody>
      </p:sp>
    </p:spTree>
  </p:cSld>
  <p:transition spd="med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Competitor intelligence workflow: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Freeze the same criteria and observation date before collection.</a:t>
            </a:r>
          </a:p>
        </p:txBody>
      </p:sp>
    </p:spTree>
  </p:cSld>
  <p:transition spd="med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Competitor intelligence workflow: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Comparable criteria populated per competitor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Timestamped comparison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Voice-of-customer synthesis: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Ingest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Cluster themes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outliers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Prioritise need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feedback_id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outlier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priority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dominant-sounding summary hides minority but critical needs.</a:t>
            </a:r>
          </a:p>
        </p:txBody>
      </p:sp>
    </p:spTree>
  </p:cSld>
  <p:transition spd="med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Voice-of-customer synthesis: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Retain row-level traceability and inspect negative cases separately.</a:t>
            </a:r>
          </a:p>
        </p:txBody>
      </p:sp>
    </p:spTree>
  </p:cSld>
  <p:transition spd="med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Voice-of-customer synthesis: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themes traceable to source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Theme table with supporting and contradicting excerpts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Persona and assumption map: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39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Group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 persona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Label assumptions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Plan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assumption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Generated personas are treated as facts about real users.</a:t>
            </a:r>
          </a:p>
        </p:txBody>
      </p:sp>
    </p:spTree>
  </p:cSld>
  <p:transition spd="med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Persona and assumption map: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Mark inferred attributes and separate evidence from hypothesis.</a:t>
            </a:r>
          </a:p>
        </p:txBody>
      </p:sp>
    </p:spTree>
  </p:cSld>
  <p:transition spd="med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Persona and assumption map: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High-risk assumptions with a validation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Persona card plus assumption register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Agentic builder landscape: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use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Shortlist builders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common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fit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use_case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builder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test_case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Feature lists replace direct comparison on the intended task.</a:t>
            </a:r>
          </a:p>
        </p:txBody>
      </p:sp>
    </p:spTree>
  </p:cSld>
  <p:transition spd="med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Agentic builder landscape: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Run the same input, output and constraints across every candidate.</a:t>
            </a:r>
          </a:p>
        </p:txBody>
      </p:sp>
    </p:spTree>
  </p:cSld>
  <p:transition spd="med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Agentic builder landscape: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Weighted score on a common golden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Paired trial results and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Workflow versus autonomous agent: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variability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pattern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override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variability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override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Autonomy is added where a predictable workflow would be safer and cheaper.</a:t>
            </a:r>
          </a:p>
        </p:txBody>
      </p:sp>
    </p:spTree>
  </p:cSld>
  <p:transition spd="med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Workflow versus autonomous agent: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the simplest architecture that satisfies variability and judgment needs.</a:t>
            </a:r>
          </a:p>
        </p:txBody>
      </p:sp>
    </p:spTree>
  </p:cSld>
  <p:transition spd="med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Workflow versus autonomous agent: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high-risk steps on deterministic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Pattern decision with rejected alternatives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Build-buy-partner decision: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Clarify advantage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Estimate capability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Model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posture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advantage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capability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ownership_cost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Subscription price is compared with in-house build cost while integration and governance are ignored.</a:t>
            </a:r>
          </a:p>
        </p:txBody>
      </p:sp>
    </p:spTree>
  </p:cSld>
  <p:transition spd="med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Build-buy-partner decision: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49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Include change, integration, assurance and exit costs.</a:t>
            </a:r>
          </a:p>
        </p:txBody>
      </p:sp>
    </p:spTree>
  </p:cSld>
  <p:transition spd="med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Build-buy-partner decision: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Risk-adjusted value over total cost of ownership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Three-option decision table with sensitivity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Resource and skills readiness: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List capabilities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Plan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Sequence 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people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governance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tool is selected before data access, ownership and evaluation skills exist.</a:t>
            </a:r>
          </a:p>
        </p:txBody>
      </p:sp>
    </p:spTree>
  </p:cSld>
  <p:transition spd="med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Resource and skills readiness: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Gate pilot entry on minimum data, product, technical and risk capabilities.</a:t>
            </a:r>
          </a:p>
        </p:txBody>
      </p:sp>
    </p:spTree>
  </p:cSld>
  <p:transition spd="med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Resource and skills readiness: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Critical readiness gaps closed before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Readiness heatmap and action owners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Evaluation decision matrix: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Weight criteria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sensitivity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Recommend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weight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sensitivity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predetermined winner is justified with arbitrary weights.</a:t>
            </a:r>
          </a:p>
        </p:txBody>
      </p:sp>
    </p:spTree>
  </p:cSld>
  <p:transition spd="med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Evaluation decision matrix: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Agree criteria before testing and show how weight changes affect the result.</a:t>
            </a:r>
          </a:p>
        </p:txBody>
      </p:sp>
    </p:spTree>
  </p:cSld>
  <p:transition spd="med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Evaluation decision matrix: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Recommendation stability across plausible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Weighted matrix, caveats and decision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Discovery boundary: evidence, agent synthesis and accountable human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Collect and
triangulate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Synthesize and
expose uncertainty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Prioritise need
and own decision</a:t>
            </a:r>
          </a:p>
        </p:txBody>
      </p:sp>
    </p:spTree>
  </p:cSld>
  <p:transition spd="med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Opportunity state: OBSERVED, FRAMED, TESTED and PRIORITISED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7ABB7"/>
                </a:solidFill>
                <a:latin typeface="Arial"/>
              </a:rPr>
              <a:t>FRAMED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TESTED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PRIORITISED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PRIORITISED means the opportunity is supported by evidence, not presentation polish.</a:t>
            </a:r>
          </a:p>
        </p:txBody>
      </p:sp>
    </p:spTree>
  </p:cSld>
  <p:transition spd="med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Research evidence chain: source → claim → insight →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59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source_id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research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claim_id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atomic 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insight_id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synthesised pattern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decision_id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product choice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discovery decision is explainable when each insight resolves to source evidence.</a:t>
            </a:r>
          </a:p>
        </p:txBody>
      </p:sp>
    </p:spTree>
  </p:cSld>
  <p:transition spd="med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Discovery failure taxonomy: bias, gaps, conflict and overclaim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BIAS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broaden sampling and segment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collect missing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CONFLICT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retain competing explanations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OVERCLAIM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lower confidence and validate</a:t>
            </a:r>
          </a:p>
        </p:txBody>
      </p:sp>
    </p:spTree>
  </p:cSld>
  <p:transition spd="med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Agent fit rises with variability and verifiability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Agentic AI fits work that is variable enough to need judgment but bounded enough to verify.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Evidence coverage raises discovery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Discovery confidence rises when claims survive triangulation, conflict review and user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Readiness gaps increase pilot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Builder selection depends on organisational readiness as much as product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01 · Frame a Product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Turn synthetic stakeholder notes into a measurable agentic-AI opportunity brief.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Completed opportunity brief and assumption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activities/activity-01-opportunity-brief/</a:t>
            </a:r>
          </a:p>
        </p:txBody>
      </p:sp>
    </p:spTree>
  </p:cSld>
  <p:transition spd="med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01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Inspect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Name user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Quantify friction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outcome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List assumptions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validation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01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Every claim traces to a source row; the outcome is measurable; high-risk assumptions have named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02 · Compare Agentic AI Builders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Run a common product-research task across three synthetic builder profiles and select a fit-for-purpose 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Weighted builder comparison with sensitivity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activities/activity-02-builder-comparison/</a:t>
            </a:r>
          </a:p>
        </p:txBody>
      </p:sp>
    </p:spTree>
  </p:cSld>
  <p:transition spd="med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02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Freeze task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Score builders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Apply weights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Test sensitivity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Recommend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02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Scores use one common task, weights total 100%, and the recommendation survives or explains sensitivity.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03 · Build a Research Evidence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Transform mock market and competitor records into a traceable, uncertainty-aware insight brief.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Claim ledger, competitor matrix and three prioritised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activities/activity-03-research-evidence-pack/</a:t>
            </a:r>
          </a:p>
        </p:txBody>
      </p:sp>
    </p:spTree>
  </p:cSld>
  <p:transition spd="med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03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Load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Normalise 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Triangulate claims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Flag conflict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Rank insight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Cite 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03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Material insights cite at least two records or explicitly state single-source uncertainty.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04 · Create Persona and JTBD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Derive evidence-based personas and jobs-to-be-done without presenting generated assumptions as 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Two persona cards, JTBD statements and validation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activities/activity-04-persona-jtbd-map/</a:t>
            </a:r>
          </a:p>
        </p:txBody>
      </p:sp>
    </p:spTree>
  </p:cSld>
  <p:transition spd="med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04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Cluster needs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Draft persona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Write JTBD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Label inference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Rank 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Plan test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04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Persona needs trace to source IDs; assumptions are labelled; each risky assumption has a feasible validation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Building and Optimising Agentic Product Development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Translate product intent into bounded agent roles, specifications, hand-offs, evaluation sets and an iterative prototype workflow that improves with evidence.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product decision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Goal-plan-act-observe loop: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79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Interpret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next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Act through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Observe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next_action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loops without progress or stops on a plausible narrative.</a:t>
            </a:r>
          </a:p>
        </p:txBody>
      </p:sp>
    </p:spTree>
  </p:cSld>
  <p:transition spd="med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Goal-plan-act-observe loop: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explicit budgets, stop conditions and observable state transitions.</a:t>
            </a:r>
          </a:p>
        </p:txBody>
      </p:sp>
    </p:spTree>
  </p:cSld>
  <p:transition spd="med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Goal-plan-act-observe loop: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loops ending in a verified stop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Loop trace with terminal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context packet: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State vision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acceptance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fills missing business context with generic assumptions.</a:t>
            </a:r>
          </a:p>
        </p:txBody>
      </p:sp>
    </p:spTree>
  </p:cSld>
  <p:transition spd="med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context packet: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Version a compact context packet and expose unknowns explicitly.</a:t>
            </a:r>
          </a:p>
        </p:txBody>
      </p:sp>
    </p:spTree>
  </p:cSld>
  <p:transition spd="med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Product context packet: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Required context fields present before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Context file and assumption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Outcome-focused specification: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Describe 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boundaries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Specify done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non_goals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acceptance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specification dictates implementation while leaving success ambiguous.</a:t>
            </a:r>
          </a:p>
        </p:txBody>
      </p:sp>
    </p:spTree>
  </p:cSld>
  <p:transition spd="med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Outcome-focused specification: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Describe what must be true and what must not change.</a:t>
            </a:r>
          </a:p>
        </p:txBody>
      </p:sp>
    </p:spTree>
  </p:cSld>
  <p:transition spd="med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Outcome-focused specification: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acceptance criteria observable by 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PRD section with testable criteria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User stories and acceptance criteria: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Name 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State intent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Explain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Write 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examples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story is marked complete when only the happy path works.</a:t>
            </a:r>
          </a:p>
        </p:txBody>
      </p:sp>
    </p:spTree>
  </p:cSld>
  <p:transition spd="med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User stories and acceptance criteria: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89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Attach concrete examples and negative conditions to each story.</a:t>
            </a:r>
          </a:p>
        </p:txBody>
      </p:sp>
    </p:spTree>
  </p:cSld>
  <p:transition spd="med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User stories and acceptance criteria: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stories with positive, edge and failure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Story map with example-based acceptance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Journey-map orchestration: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Map stages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Locate friction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agent role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Keep human 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friction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agent_role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workflow optimises speed while weakening trust at critical moments.</a:t>
            </a:r>
          </a:p>
        </p:txBody>
      </p:sp>
    </p:spTree>
  </p:cSld>
  <p:transition spd="med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Journey-map orchestration: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Preserve recovery, explanation and control at consequential journey points.</a:t>
            </a:r>
          </a:p>
        </p:txBody>
      </p:sp>
    </p:spTree>
  </p:cSld>
  <p:transition spd="med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Journey-map orchestration: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high-consequence moments with human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Journey map with agent and human swimlanes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Single-agent baseline: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Bound one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Connect minimal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Run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gaps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multi-agent design is introduced before a simpler baseline is measured.</a:t>
            </a:r>
          </a:p>
        </p:txBody>
      </p:sp>
    </p:spTree>
  </p:cSld>
  <p:transition spd="med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Single-agent baseline: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Prove the minimum viable agent before adding roles.</a:t>
            </a:r>
          </a:p>
        </p:txBody>
      </p:sp>
    </p:spTree>
  </p:cSld>
  <p:transition spd="med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Single-agent baseline: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Accepted tasks per 20-case evaluation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Baseline run log and failure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Multi-agent role design: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Decompose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Assign 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Limit authority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coordinator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authority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coordinator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Multiple agents duplicate work and amplify inconsistent assumptions.</a:t>
            </a:r>
          </a:p>
        </p:txBody>
      </p:sp>
    </p:spTree>
  </p:cSld>
  <p:transition spd="med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Multi-agent role design: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Give each role distinct inputs, output schema and decision rights.</a:t>
            </a:r>
          </a:p>
        </p:txBody>
      </p:sp>
    </p:spTree>
  </p:cSld>
  <p:transition spd="med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Multi-agent role design: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Handoffs that add unique value / total handoffs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Role charter and responsibility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Handoff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Validate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Perform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Emit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Acknowledge receipt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input_schema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output_schema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Free-form outputs break downstream steps or lose provenance.</a:t>
            </a:r>
          </a:p>
        </p:txBody>
      </p:sp>
    </p:spTree>
  </p:cSld>
  <p:transition spd="med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Handoff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stable identifiers, structured outputs and fail-closed validation.</a:t>
            </a:r>
          </a:p>
        </p:txBody>
      </p:sp>
    </p:spTree>
  </p:cSld>
  <p:transition spd="med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Handoff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handoffs passing schema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Handoff record with validation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Tool and retrieval grounding: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Identify need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source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Retrieve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Cite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citation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agent uses stale, irrelevant or untrusted material as product truth.</a:t>
            </a:r>
          </a:p>
        </p:txBody>
      </p:sp>
    </p:spTree>
  </p:cSld>
  <p:transition spd="med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Tool and retrieval grounding: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Constrain sources, retain citations and test retrieval misses.</a:t>
            </a:r>
          </a:p>
        </p:txBody>
      </p:sp>
    </p:spTree>
  </p:cSld>
  <p:transition spd="med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Tool and retrieval grounding: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answer claims grounded in approved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Retrieved evidence linked to output claims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Prompt contract design: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State objective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Provide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Define format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objective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constraints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output_schema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long prompt hides conflicting instructions and undefined priorities.</a:t>
            </a:r>
          </a:p>
        </p:txBody>
      </p:sp>
    </p:spTree>
  </p:cSld>
  <p:transition spd="med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Prompt contract design: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Separate goal, context, rules, examples and output contract.</a:t>
            </a:r>
          </a:p>
        </p:txBody>
      </p:sp>
    </p:spTree>
  </p:cSld>
  <p:transition spd="med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Prompt contract design: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First-pass outputs meeting all contract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Prompt version and conformance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Evaluation-set engineering: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Sample real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Add edge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Freeze expected traits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Teams judge prototypes from one impressive demonstration.</a:t>
            </a:r>
          </a:p>
        </p:txBody>
      </p:sp>
    </p:spTree>
  </p:cSld>
  <p:transition spd="med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Evaluation-set engineering: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Build a representative frozen set before optimisation.</a:t>
            </a:r>
          </a:p>
        </p:txBody>
      </p:sp>
    </p:spTree>
  </p:cSld>
  <p:transition spd="med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Evaluation-set engineering: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Coverage across core, edge and adversarial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Versioned evaluation CSV and score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Iteration and error taxonomy: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failure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Find causal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Apply one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Re-run 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failure_type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delta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Several prompt, model and data changes are bundled, obscuring causality.</a:t>
            </a:r>
          </a:p>
        </p:txBody>
      </p:sp>
    </p:spTree>
  </p:cSld>
  <p:transition spd="med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Iteration and error taxonomy: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Change one causal layer per experiment and re-run the full frozen set.</a:t>
            </a:r>
          </a:p>
        </p:txBody>
      </p:sp>
    </p:spTree>
  </p:cSld>
  <p:transition spd="med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Iteration and error taxonomy: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Improvement on failed cases without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Experiment ledger with before-after deltas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Prototype-to-learning loop: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PROTOTYPE LEARNING SURFACE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Create the thinnest useful slice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ABB7"/>
                </a:solidFill>
                <a:latin typeface="Arial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Observe representative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Separate signal from opinion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Continue, pivot or stop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rototype-testing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Prototype-to-learning loop: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Time-box builds and define the decision each prototype must unlock.</a:t>
            </a:r>
          </a:p>
        </p:txBody>
      </p:sp>
    </p:spTree>
  </p:cSld>
  <p:transition spd="med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Prototype-to-learning loop: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Validated assumptions per prototype 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Experiment brief and go-pivot-stop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Workflow boundary: context, agent roles and human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Define outcome
and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Coordinate roles
and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Review evidence
and consequence</a:t>
            </a:r>
          </a:p>
        </p:txBody>
      </p:sp>
    </p:spTree>
  </p:cSld>
  <p:transition spd="med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Prototype state: DEFINED, BUILT, TESTED and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DEFINED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7ABB7"/>
                </a:solidFill>
                <a:latin typeface="Arial"/>
              </a:rPr>
              <a:t>BUILT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TESTED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LEARNED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LEARNED means the prototype changed or confirmed a product hypothesis.</a:t>
            </a:r>
          </a:p>
        </p:txBody>
      </p:sp>
    </p:spTree>
  </p:cSld>
  <p:transition spd="med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Product evidence chain: requirement → prototype → evaluation →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requirement_id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intended behavior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prototype_id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testable artifact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eval_run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observed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decision_id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next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prototype decision is credible when requirements, tests and learning remain connected.</a:t>
            </a:r>
          </a:p>
        </p:txBody>
      </p:sp>
    </p:spTree>
  </p:cSld>
  <p:transition spd="med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Optimisation taxonomy: context, handoff, quality and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missing product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HANDOFF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restore schema and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target the causal prompt or data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REGRESSION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re-run the frozen evaluation set</a:t>
            </a:r>
          </a:p>
        </p:txBody>
      </p:sp>
    </p:spTree>
  </p:cSld>
  <p:transition spd="med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Structured context improves first-pass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Product context, constraints and examples improve first-pass usefulness.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Frozen evaluations expose real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 frozen evaluation set prevents teams from moving the goalposts during optimisation.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Workflow complexity expands coordination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More agent roles add coordination cost and must earn their place through measured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05 · Design an Agent Workflow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Map a product-discovery task into an agentic loop with tools, state, stop conditions and human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Workflow canvas and responsibility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activities/activity-05-agent-workflow-canvas/</a:t>
            </a:r>
          </a:p>
        </p:txBody>
      </p:sp>
    </p:spTree>
  </p:cSld>
  <p:transition spd="med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05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Map stages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Assign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schemas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gates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stop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05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Every stage has an owner and observable output; consequential actions stop for human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06 · Create an AI-Ready PRD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Convert an opportunity brief into outcome-focused requirements, user stories and acceptance examples.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Lean PRD, story map and acceptance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activities/activity-06-prd-and-user-stories/</a:t>
            </a:r>
          </a:p>
        </p:txBody>
      </p:sp>
    </p:spTree>
  </p:cSld>
  <p:transition spd="med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06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129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Restate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Write stories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examples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non-goals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Review gaps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06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Requirements are testable, non-goals are explicit, and every priority story has three acceptance examples.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07 · Engineer a Prompt and Evaluation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structured prompt contract and a frozen evaluation set for a product-feedback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Versioned prompt, 20-case evaluation CSV and scoring rubric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activities/activity-07-prompt-evaluation-set/</a:t>
            </a:r>
          </a:p>
        </p:txBody>
      </p:sp>
    </p:spTree>
  </p:cSld>
  <p:transition spd="med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07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Sample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edges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Freeze rubric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Record gaps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07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evaluation set covers all segments; scoring rules are reproducible; baseline failures are retained.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08 · Run a Prototype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Evaluate a synthetic agent prototype, classify failures and recommend one causal improvement.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Experiment ledger with before-after scores and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activities/activity-08-prototype-experiment/</a:t>
            </a:r>
          </a:p>
        </p:txBody>
      </p:sp>
    </p:spTree>
  </p:cSld>
  <p:transition spd="med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08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Run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Score 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Classify failure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Change one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Re-run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Decide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08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change targets one causal layer, the frozen set is preserved, and regression risk is documented.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49808"/>
            <a:ext cx="1325880" cy="13258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325880" cy="1325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804672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243584"/>
            <a:ext cx="8778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Deploying and Evaluating Agentic AI-Powered Product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88950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Design a deployment posture that preserves human control, security, observability, cost discipline and a production feedback loop.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4005072"/>
            <a:ext cx="8138160" cy="0"/>
          </a:xfrm>
          <a:prstGeom prst="line">
            <a:avLst/>
          </a:prstGeom>
          <a:ln w="381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31720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Oval 11"/>
          <p:cNvSpPr/>
          <p:nvPr/>
        </p:nvSpPr>
        <p:spPr>
          <a:xfrm>
            <a:off x="4507992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6684264" y="4315968"/>
            <a:ext cx="731520" cy="7315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4264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860536" y="4315968"/>
            <a:ext cx="731520" cy="7315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4315968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52120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870448"/>
            <a:ext cx="8412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7ABB7"/>
                </a:solidFill>
                <a:latin typeface="Arial"/>
              </a:rPr>
              <a:t>Every product decision ends in observable evidence—not an agent’s assertion.</a:t>
            </a:r>
          </a:p>
        </p:txBody>
      </p:sp>
    </p:spTree>
  </p:cSld>
  <p:transition spd="med">
    <p:push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Prototype-to-production gate: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886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3383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PRODUCTION READINESS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21992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212848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203704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Validate user and business outcome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054096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54096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3044952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035808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Pass frozen and live evaluations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3886200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877056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E09119"/>
                </a:solidFill>
                <a:latin typeface="Arial"/>
              </a:rPr>
              <a:t>OPERATE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3867912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Instrument cost, latency and risk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718304"/>
            <a:ext cx="438912" cy="43891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709160"/>
            <a:ext cx="11430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700016"/>
            <a:ext cx="1463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D3056"/>
                </a:solidFill>
                <a:latin typeface="Arial"/>
              </a:rPr>
              <a:t>Bind rollout to human ownership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1417320"/>
            <a:ext cx="67299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overned-deployment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16939"/>
            <a:ext cx="6620256" cy="372587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887968" y="5486400"/>
            <a:ext cx="22677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59552"/>
            <a:ext cx="2084831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536577"/>
                </a:solidFill>
                <a:latin typeface="Arial"/>
              </a:rPr>
              <a:t>CONCEPT VISUAL • LABELLED</a:t>
            </a:r>
          </a:p>
        </p:txBody>
      </p:sp>
    </p:spTree>
  </p:cSld>
  <p:transition spd="med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Prototype-to-production gate: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Separate learning code from supported production architecture and evidence.</a:t>
            </a:r>
          </a:p>
        </p:txBody>
      </p:sp>
    </p:spTree>
  </p:cSld>
  <p:transition spd="med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01 · Prototype-to-production gate: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Required gates passed before production investment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Handoff pack with eval set, edge cases and prompt strategy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Deployment channel fit: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Map user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Assess channel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Design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Select channel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choice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easiest integration is chosen despite poor user context or control.</a:t>
            </a:r>
          </a:p>
        </p:txBody>
      </p:sp>
    </p:spTree>
  </p:cSld>
  <p:transition spd="med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Deployment channel fit: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Compare web, workspace, messaging and embedded channels on task and risk.</a:t>
            </a:r>
          </a:p>
        </p:txBody>
      </p:sp>
    </p:spTree>
  </p:cSld>
  <p:transition spd="med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02 · Deployment channel fit: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Task completion and recovery rate by channel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Channel matrix and fallback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Reference deployment architecture: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Receive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Orchestrate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Access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request_id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orchestrator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audit_event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Model calls, tool actions and user decisions cannot be correlated.</a:t>
            </a:r>
          </a:p>
        </p:txBody>
      </p:sp>
    </p:spTree>
  </p:cSld>
  <p:transition spd="med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Reference deployment architecture: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Carry a stable request identifier through every component.</a:t>
            </a:r>
          </a:p>
        </p:txBody>
      </p:sp>
    </p:spTree>
  </p:cSld>
  <p:transition spd="med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03 · Reference deployment architecture: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transactions traceable end to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Architecture diagram and correlated trace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API and integration contract: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149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Authenticate caller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Validate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Execute bounded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Return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Loose integrations permit malformed or over-broad actions.</a:t>
            </a:r>
          </a:p>
        </p:txBody>
      </p:sp>
    </p:spTree>
  </p:cSld>
  <p:transition spd="med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API and integration contract: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typed schemas, idempotency and explicit error states.</a:t>
            </a:r>
          </a:p>
        </p:txBody>
      </p:sp>
    </p:spTree>
  </p:cSld>
  <p:transition spd="med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04 · API and integration contract: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requests with schema-valid input and explicit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API contract and negative-test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Programming skill mix: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Specify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Read interfaces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Operate 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prompting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Natural-language prototyping is assumed to replace integration and operational expertise.</a:t>
            </a:r>
          </a:p>
        </p:txBody>
      </p:sp>
    </p:spTree>
  </p:cSld>
  <p:transition spd="med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Programming skill mix: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Plan the product, prompt, data, integration, testing and operations skills explicitly.</a:t>
            </a:r>
          </a:p>
        </p:txBody>
      </p:sp>
    </p:spTree>
  </p:cSld>
  <p:transition spd="med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05 · Programming skill mix: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Critical skill roles assigned with accountable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Skills matrix and gap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Security and privacy boundary: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Minimise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Protect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Audit 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data_class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permission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tool_policy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Prompt injection or excess permissions turn untrusted content into consequential actions.</a:t>
            </a:r>
          </a:p>
        </p:txBody>
      </p:sp>
    </p:spTree>
  </p:cSld>
  <p:transition spd="med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Security and privacy boundary: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Layer input controls, tool allowlists, approval and monitoring.</a:t>
            </a:r>
          </a:p>
        </p:txBody>
      </p:sp>
    </p:spTree>
  </p:cSld>
  <p:transition spd="med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06 · Security and privacy boundary: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sensitive paths protected by least privilege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Threat model, permission map and tested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Human oversight design: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Classify consequence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Set confidence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Route exception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Record decision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risk_class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nominal approval step becomes routine click-through.</a:t>
            </a:r>
          </a:p>
        </p:txBody>
      </p:sp>
    </p:spTree>
  </p:cSld>
  <p:transition spd="med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Human oversight design: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159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Show the evidence and consequence at the point of decision.</a:t>
            </a:r>
          </a:p>
        </p:txBody>
      </p:sp>
    </p:spTree>
  </p:cSld>
  <p:transition spd="med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07 · Human oversight design: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consequential actions with meaningful 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Approval log tied to current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Observability and product KPIs: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Instrument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Compute metric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Segment failure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Trigger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segment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Usage growth masks falling answer quality or rising correction work.</a:t>
            </a:r>
          </a:p>
        </p:txBody>
      </p:sp>
    </p:spTree>
  </p:cSld>
  <p:transition spd="med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Observability and product KPIs: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Pair business outcomes with reliability, safety and experience measures.</a:t>
            </a:r>
          </a:p>
        </p:txBody>
      </p:sp>
    </p:spTree>
  </p:cSld>
  <p:transition spd="med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08 · Observability and product KPIs: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North-star outcome plus quality, cost and risk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Metric tree and alert ownership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Quality, latency and cost frontier: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Measure latency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Load full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Choose frontier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cheapest or fastest model is chosen without quality-adjusted comparison.</a:t>
            </a:r>
          </a:p>
        </p:txBody>
      </p:sp>
    </p:spTree>
  </p:cSld>
  <p:transition spd="med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Quality, latency and cost frontier: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Compare only configurations meeting minimum quality and risk thresholds.</a:t>
            </a:r>
          </a:p>
        </p:txBody>
      </p:sp>
    </p:spTree>
  </p:cSld>
  <p:transition spd="med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09 · Quality, latency and cost frontier: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Accepted outcome cost at target response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Pareto chart and selected operating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Production evaluation loop: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Sample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Score outcomes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Review failures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Release repair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release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Offline evals remain green while live inputs drift.</a:t>
            </a:r>
          </a:p>
        </p:txBody>
      </p:sp>
    </p:spTree>
  </p:cSld>
  <p:transition spd="med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Production evaluation loop: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Combine frozen regression sets with representative live sampling.</a:t>
            </a:r>
          </a:p>
        </p:txBody>
      </p:sp>
    </p:spTree>
  </p:cSld>
  <p:transition spd="med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10 · Production evaluation loop: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% production samples scored and actioned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Eval dashboard and linked repair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Rollout and change management: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Pilot cohort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Train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Expand gradually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Retire safely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cohort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enablement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rollback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 big-bang launch creates unmanaged behavior and support load.</a:t>
            </a:r>
          </a:p>
        </p:txBody>
      </p:sp>
    </p:spTree>
  </p:cSld>
  <p:transition spd="med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Rollout and change management: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staged rollout, telemetry, support playbooks and rollback criteria.</a:t>
            </a:r>
          </a:p>
        </p:txBody>
      </p:sp>
    </p:spTree>
  </p:cSld>
  <p:transition spd="med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11 · Rollout and change management: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Cohorts expanded only after approved 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Rollout plan with go/no-go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Feedback and graceful failure: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Detect uncertainty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Explain limit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Offer recovery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Learn from feedback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uncertainty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feedback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product hides uncertainty or traps users in repeated bad answers.</a:t>
            </a:r>
          </a:p>
        </p:txBody>
      </p:sp>
    </p:spTree>
  </p:cSld>
  <p:transition spd="med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Feedback and graceful failure: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Design honest limits, user control and a path to human help.</a:t>
            </a:r>
          </a:p>
        </p:txBody>
      </p:sp>
    </p:spTree>
  </p:cSld>
  <p:transition spd="med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12 · Feedback and graceful failure: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Successful recovery rate after agent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Failure-state prototype and feedback taxonomy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Benefit-trade-off recommendation: execution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2743200"/>
            <a:ext cx="530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13648" y="2743200"/>
            <a:ext cx="530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Quantify benefit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Price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65392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Test 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3728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9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697480"/>
            <a:ext cx="184708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Recommend posture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STATE PASSED BETWEEN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scenario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recommendation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FAILURE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The business case counts automation savings but excludes oversight, incidents and change cost.</a:t>
            </a:r>
          </a:p>
        </p:txBody>
      </p:sp>
    </p:spTree>
  </p:cSld>
  <p:transition spd="med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Benefit-trade-off recommendation: contract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743200"/>
            <a:ext cx="2084832" cy="0"/>
          </a:xfrm>
          <a:prstGeom prst="line">
            <a:avLst/>
          </a:prstGeom>
          <a:ln w="2794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71231" y="2743200"/>
            <a:ext cx="2075689" cy="0"/>
          </a:xfrm>
          <a:prstGeom prst="line">
            <a:avLst/>
          </a:prstGeom>
          <a:ln w="2794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71616" y="3547872"/>
            <a:ext cx="0" cy="1069848"/>
          </a:xfrm>
          <a:prstGeom prst="line">
            <a:avLst/>
          </a:prstGeom>
          <a:ln w="2794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875C4"/>
                </a:solidFill>
                <a:latin typeface="Arial"/>
              </a:rPr>
              <a:t>INPUT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required keys +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29367"/>
                </a:solidFill>
                <a:latin typeface="Arial"/>
              </a:rPr>
              <a:t>DETERMINISTIC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schema +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38528"/>
            <a:ext cx="297180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222199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ABB7"/>
                </a:solidFill>
                <a:latin typeface="Arial"/>
              </a:rPr>
              <a:t>ACCEPTED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70048"/>
            <a:ext cx="2606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evidence +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4590288"/>
            <a:ext cx="3401568" cy="96012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73168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09119"/>
                </a:solidFill>
                <a:latin typeface="Arial"/>
              </a:rPr>
              <a:t>BLOCK / REPAIR / 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8756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Use risk-adjusted scenarios and issue a pilot, expand, hold or stop decision.</a:t>
            </a:r>
          </a:p>
        </p:txBody>
      </p:sp>
    </p:spTree>
  </p:cSld>
  <p:transition spd="med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13 · Benefit-trade-off recommendation: evidence and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6858000" cy="18288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58568"/>
            <a:ext cx="63550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Net value remains positive under downside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1554480"/>
            <a:ext cx="3730752" cy="182880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ACCEPTANCE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32461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Executive decision memo with conditions and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875C4"/>
                </a:solidFill>
                <a:latin typeface="Arial"/>
              </a:rP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machine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7ABB7"/>
                </a:solidFill>
                <a:latin typeface="Arial"/>
              </a:rPr>
              <a:t>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approved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29367"/>
                </a:solidFill>
                <a:latin typeface="Arial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PASS /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877056"/>
            <a:ext cx="243230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4105656"/>
            <a:ext cx="21579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498848"/>
            <a:ext cx="215798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4202C"/>
                </a:solidFill>
                <a:latin typeface="Arial"/>
              </a:rPr>
              <a:t>named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5504688"/>
            <a:ext cx="10716768" cy="56692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87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D3056"/>
                </a:solidFill>
                <a:latin typeface="Arial"/>
              </a:rPr>
              <a:t>Completion principle: evidence travels with the product hypothesis, changed state and decision—not in an unsupported claim.</a:t>
            </a:r>
          </a:p>
        </p:txBody>
      </p:sp>
    </p:spTree>
  </p:cSld>
  <p:transition spd="med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Deployment boundary: product, platform and accountable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01568" cy="35661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0824" y="2011680"/>
            <a:ext cx="822960" cy="82296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Set value and
experience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45920"/>
            <a:ext cx="3401568" cy="35661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4" y="2011680"/>
            <a:ext cx="822960" cy="82296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9367"/>
                </a:solidFill>
                <a:latin typeface="Arial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Operate agent
and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401568" cy="35661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10344" y="2011680"/>
            <a:ext cx="822960" cy="82296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2011680"/>
            <a:ext cx="82296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63240"/>
            <a:ext cx="29443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09119"/>
                </a:solidFill>
                <a:latin typeface="Arial"/>
              </a:rPr>
              <a:t>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94176"/>
            <a:ext cx="2670048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4202C"/>
                </a:solidFill>
                <a:latin typeface="Arial"/>
              </a:rPr>
              <a:t>Approve rollout
and exceptions</a:t>
            </a:r>
          </a:p>
        </p:txBody>
      </p:sp>
    </p:spTree>
  </p:cSld>
  <p:transition spd="med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Adoption state: PILOT, EXPAND, HOLD and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9377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80960" y="2926080"/>
            <a:ext cx="1188720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194560"/>
            <a:ext cx="1417320" cy="141732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75C4"/>
                </a:solidFill>
                <a:latin typeface="Arial"/>
              </a:rPr>
              <a:t>PILOT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194560"/>
            <a:ext cx="1417320" cy="141732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9367"/>
                </a:solidFill>
                <a:latin typeface="Arial"/>
              </a:rPr>
              <a:t>EXPAND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194560"/>
            <a:ext cx="1417320" cy="141732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09119"/>
                </a:solidFill>
                <a:latin typeface="Arial"/>
              </a:rPr>
              <a:t>HOLD</a:t>
            </a:r>
          </a:p>
        </p:txBody>
      </p:sp>
      <p:sp>
        <p:nvSpPr>
          <p:cNvPr id="20" name="Oval 19"/>
          <p:cNvSpPr/>
          <p:nvPr/>
        </p:nvSpPr>
        <p:spPr>
          <a:xfrm>
            <a:off x="8869680" y="2194560"/>
            <a:ext cx="1417320" cy="141732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9456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C93E36"/>
                </a:solidFill>
                <a:latin typeface="Arial"/>
              </a:rPr>
              <a:t>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The adoption posture records evidence, conditions, owner and review date.</a:t>
            </a:r>
          </a:p>
        </p:txBody>
      </p:sp>
    </p:spTree>
  </p:cSld>
  <p:transition spd="med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Production evidence chain: request → trace → metric →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7667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65592" y="2907792"/>
            <a:ext cx="795528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" y="2084831"/>
            <a:ext cx="2304288" cy="1664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request_id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user intent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2084831"/>
            <a:ext cx="2304288" cy="166420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trace_id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agent and tool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084831"/>
            <a:ext cx="2304288" cy="166420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metric_set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quality and guardrails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084831"/>
            <a:ext cx="2304288" cy="16642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432304"/>
            <a:ext cx="2011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decision_id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99008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rollout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6048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0D3056"/>
                </a:solidFill>
                <a:latin typeface="Arial"/>
              </a:rPr>
              <a:t>A production recommendation is defensible when every metric resolves to a trace and owner.</a:t>
            </a:r>
          </a:p>
        </p:txBody>
      </p:sp>
    </p:spTree>
  </p:cSld>
  <p:transition spd="med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SYSTEM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Deployment taxonomy: quality, reliability, cost and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2103120" cy="713232"/>
          </a:xfrm>
          <a:prstGeom prst="roundRect">
            <a:avLst/>
          </a:prstGeom>
          <a:solidFill>
            <a:srgbClr val="C93E36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1892807"/>
            <a:ext cx="822959" cy="0"/>
          </a:xfrm>
          <a:prstGeom prst="line">
            <a:avLst/>
          </a:prstGeom>
          <a:ln w="25400">
            <a:solidFill>
              <a:srgbClr val="C93E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77056" y="1536192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19072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repair causal behavior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15184"/>
            <a:ext cx="2103120" cy="713232"/>
          </a:xfrm>
          <a:prstGeom prst="roundRect">
            <a:avLst/>
          </a:prstGeom>
          <a:solidFill>
            <a:srgbClr val="17ABB7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98064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RELIABILITY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971800"/>
            <a:ext cx="822959" cy="0"/>
          </a:xfrm>
          <a:prstGeom prst="line">
            <a:avLst/>
          </a:prstGeom>
          <a:ln w="2540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7056" y="2615184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98064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repeat and segment trials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94176"/>
            <a:ext cx="2103120" cy="713232"/>
          </a:xfrm>
          <a:prstGeom prst="roundRect">
            <a:avLst/>
          </a:prstGeom>
          <a:solidFill>
            <a:srgbClr val="E09119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99232" y="4050791"/>
            <a:ext cx="822959" cy="0"/>
          </a:xfrm>
          <a:prstGeom prst="line">
            <a:avLst/>
          </a:prstGeom>
          <a:ln w="25400">
            <a:solidFill>
              <a:srgbClr val="E0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77056" y="3694176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3877056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optimise within guardrails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773168"/>
            <a:ext cx="2103120" cy="713232"/>
          </a:xfrm>
          <a:prstGeom prst="roundRect">
            <a:avLst/>
          </a:prstGeom>
          <a:solidFill>
            <a:srgbClr val="1875C4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5604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5129783"/>
            <a:ext cx="822959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7056" y="4773168"/>
            <a:ext cx="7132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4956048"/>
            <a:ext cx="6583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hold for accountable decision</a:t>
            </a:r>
          </a:p>
        </p:txBody>
      </p:sp>
    </p:spTree>
  </p:cSld>
  <p:transition spd="med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Staged rollout increases decision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Staged rollout converts production evidence into a safer expansion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Observability shortens recovery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Linked traces, metrics and alerts shorten the path from symptom to accountable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EDITABLE NATIVE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Human oversight rises with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444752"/>
          <a:ext cx="7424927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67344" y="1627632"/>
            <a:ext cx="2907792" cy="395020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92024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487168"/>
            <a:ext cx="2359152" cy="1572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Human oversight should increase with the consequence and reversibility of the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473659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36577"/>
                </a:solidFill>
                <a:latin typeface="Arial"/>
              </a:rPr>
              <a:t>Illustrative synthetic values for mechanism explanation.</a:t>
            </a:r>
          </a:p>
        </p:txBody>
      </p:sp>
    </p:spTree>
  </p:cSld>
  <p:transition spd="med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09 · Select a Deployment Posture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Compare channel and architecture options for an agentic product using task, integration and risk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Deployment matrix, reference architecture and fallback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activities/activity-09-deployment-decision/</a:t>
            </a:r>
          </a:p>
        </p:txBody>
      </p:sp>
    </p:spTree>
  </p:cSld>
  <p:transition spd="med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09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Map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Compare channels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Select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fallback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Cost posture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Approve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09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selected option meets task, integration, safety and recovery thresholds; caveats are explicit.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10 · Conduct a Risk and Control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Threat-model an agent workflow and assign layered controls, evidence and owners.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Risk register, permission map and control test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activities/activity-10-risk-control-review/</a:t>
            </a:r>
          </a:p>
        </p:txBody>
      </p:sp>
    </p:spTree>
  </p:cSld>
  <p:transition spd="med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10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Map assets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Identify threats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Score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Select controls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Assign owner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Test 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10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High risks have preventive and detective controls, named owners and testable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11 · Design KPI and Feedback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metric tree and monitoring view that balances business value, quality, experience, cost and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KPI tree, alert table and feedback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activities/activity-11-kpi-feedback-dashboard/</a:t>
            </a:r>
          </a:p>
        </p:txBody>
      </p:sp>
    </p:spTree>
  </p:cSld>
  <p:transition spd="med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11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outcome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Add guardrails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Define 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thresholds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Assign 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Review drift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343400"/>
            <a:ext cx="1005840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Each node consumes named keys, emits a status, and leaves retrievable execution evidence.</a:t>
            </a:r>
          </a:p>
        </p:txBody>
      </p:sp>
    </p:spTree>
  </p:cSld>
  <p:transition spd="med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11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Metrics have formulas, data sources, thresholds, segments and action owners; no vanity-only measure drives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ACTIVITY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12 · Deliver a Governed Product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Synthesize value, evaluation, readiness and risk evidence into an executive pilot, expand, hold or stop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One-page decision memo and 90-day rollout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procedures, prompts, troubleshooting and acceptance checks are in the Learner Guide and activity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76088"/>
            <a:ext cx="754380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4202C"/>
                </a:solidFill>
                <a:latin typeface="Arial"/>
              </a:rPr>
              <a:t>Self-contained folder: activities/activity-12-executive-recommendation/</a:t>
            </a:r>
          </a:p>
        </p:txBody>
      </p:sp>
    </p:spTree>
  </p:cSld>
  <p:transition spd="med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WORKFLOW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12 · agent workflow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304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33288" y="2962656"/>
            <a:ext cx="457200" cy="0"/>
          </a:xfrm>
          <a:prstGeom prst="line">
            <a:avLst/>
          </a:prstGeom>
          <a:ln w="2032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53527" y="2962656"/>
            <a:ext cx="457200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73767" y="2962656"/>
            <a:ext cx="457201" cy="0"/>
          </a:xfrm>
          <a:prstGeom prst="line">
            <a:avLst/>
          </a:prstGeom>
          <a:ln w="2032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Summarise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522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Compare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5546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Price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22576"/>
            <a:ext cx="1481328" cy="12984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75704" y="2478024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Test downside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22576"/>
            <a:ext cx="1481328" cy="12984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5944" y="2478024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Set conditions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322576"/>
            <a:ext cx="1481328" cy="12984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616184" y="2478024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16184" y="2478024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3044952"/>
            <a:ext cx="1335024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D3056"/>
                </a:solidFill>
                <a:latin typeface="Arial"/>
              </a:rPr>
              <a:t>Recommend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86200"/>
            <a:ext cx="3063240" cy="171907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87952"/>
            <a:ext cx="2560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09119"/>
                </a:solidFill>
                <a:latin typeface="Arial"/>
              </a:rPr>
              <a:t>HUMAN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4590288"/>
            <a:ext cx="2560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Approval resumes only when the reviewed diff and current state still match.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52544"/>
            <a:ext cx="67665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D3056"/>
                </a:solidFill>
                <a:latin typeface="Arial"/>
              </a:rPr>
              <a:t>Consequential actions require a current diff, passing checks and a named decision.</a:t>
            </a:r>
          </a:p>
        </p:txBody>
      </p:sp>
    </p:spTree>
  </p:cSld>
  <p:transition spd="med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ACCEPTANCE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Activity 12 · evidence and failure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PASS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recommendation is traceable to evidence, survives a downside scenario, and has measurable exit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FAIL CLOSED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protected boundary is crossed; evidence is missing; approval is absent; or the current diff no longer matches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README.pdf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detailed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mock-data/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synthetic source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templates/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learner working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315968"/>
            <a:ext cx="21579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evidence/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91456"/>
            <a:ext cx="21579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acceptance record</a:t>
            </a:r>
          </a:p>
        </p:txBody>
      </p:sp>
    </p:spTree>
  </p:cSld>
  <p:transition spd="med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technical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state field prevents a silent downstream assumption?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evidence proves the mechanism completed successfully?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failure must stop rather than retry?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Who owns the consequential decision?</a:t>
            </a:r>
          </a:p>
        </p:txBody>
      </p:sp>
    </p:spTree>
  </p:cSld>
  <p:transition spd="med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transfer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199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Change one input constraint and predict the affected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identifier that preserves provenance across the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Define one machine threshold and one human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Describe the minimum evidence required to resume the run.</a:t>
            </a:r>
          </a:p>
        </p:txBody>
      </p:sp>
    </p:spTree>
  </p:cSld>
  <p:transition spd="med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END-TO-END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achievement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1080820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508760"/>
            <a:ext cx="493776" cy="49377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08760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481328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LO1 Evaluate agentic AI builders for product research and development, comparing strengths, limitations, resources and skills.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51176"/>
            <a:ext cx="1080820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706624"/>
            <a:ext cx="493776" cy="493776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06624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679192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LO2 Apply optimisation techniques to improve the efficiency, quality and control of agentic product-development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08208" cy="84124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904487"/>
            <a:ext cx="493776" cy="49377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04487"/>
            <a:ext cx="493776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877055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LO3 Evaluate the benefits and trade-offs of deploying agentic AI-powered product solutions and recommend a governed path forward.</a:t>
            </a:r>
          </a:p>
        </p:txBody>
      </p:sp>
    </p:spTree>
  </p:cSld>
  <p:transition spd="med">
    <p:fade/>
  </p:transition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learning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201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Use the LMS for attendance evidence, learner resources and assessment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Open https://lms-tms.tertiaryinfotech.com/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your assigned learner 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Confirm the course title and code before submitting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Ask the trainer if access is blocked</a:t>
            </a:r>
          </a:p>
        </p:txBody>
      </p:sp>
    </p:spTree>
  </p:cSld>
  <p:transition spd="med">
    <p:fade/>
  </p:transition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Agentic product controls that must remain intact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Automation is complete only when governance travels with the product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Every agent role has a bounded goal and authority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handoff preserves source and state provenance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consequential action has a named human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Every release claim resolves to evaluation evidence</a:t>
            </a:r>
          </a:p>
        </p:txBody>
      </p:sp>
    </p:spTree>
  </p:cSld>
  <p:transition spd="med">
    <p:fade/>
  </p:transition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reminder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Demonstrate understanding and an evidence-backed end-to-end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Written Assessment (SAQ): 6 questions / 60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Practical Performance: 3 tasks / 60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only learner-safe activity data and product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Submit through the instructed LMS route</a:t>
            </a:r>
          </a:p>
        </p:txBody>
      </p:sp>
    </p:spTree>
  </p:cSld>
  <p:transition spd="med">
    <p:fade/>
  </p:transition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Complete both components and retain the requested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Briefing and identity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Written Assessment (K1–K6)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Practical Performance (A1–A3)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Assessor review and outcome</a:t>
            </a:r>
          </a:p>
        </p:txBody>
      </p:sp>
    </p:spTree>
  </p:cSld>
  <p:transition spd="med">
    <p:fade/>
  </p:transition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Digital attendance is mandatory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Attendance evidence is part of the course administration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Check in at the instructed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Use the correct learner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Complete both attendance events each training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Notify the trainer immediately if the form fails</a:t>
            </a:r>
          </a:p>
        </p:txBody>
      </p:sp>
    </p:spTree>
  </p:cSld>
  <p:transition spd="med">
    <p:fade/>
  </p:transition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References and further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Product Development  •  TGS-2024045799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Pte. Ltd.  |  Slide 206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481328"/>
            <a:ext cx="932688" cy="9326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932688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517904"/>
            <a:ext cx="928116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100" b="1">
                <a:solidFill>
                  <a:srgbClr val="0D3056"/>
                </a:solidFill>
                <a:latin typeface="Arial"/>
              </a:rPr>
              <a:t>The course synthesises the original deck with both supplied eBooks and current primary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88920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202C"/>
                </a:solidFill>
                <a:latin typeface="Arial"/>
              </a:rPr>
              <a:t>AI Product Management — Aman Khan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788920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999232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999232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935224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Building AI-Powered Products — Marily Nika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22776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Anthropic — Building effective 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22776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4133088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8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4304" y="4069080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Google PAIR — People + AI Guidebook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56631"/>
            <a:ext cx="5230368" cy="84124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59" y="5266944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266944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02936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NIST — AI Risk Management Framework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5056631"/>
            <a:ext cx="5230368" cy="841248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55664" y="5266944"/>
            <a:ext cx="402336" cy="402336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5266944"/>
            <a:ext cx="402336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4" y="5202936"/>
            <a:ext cx="43342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14202C"/>
                </a:solidFill>
                <a:latin typeface="Arial"/>
              </a:rPr>
              <a:t>Tertiary Courses — current course specification</a:t>
            </a:r>
          </a:p>
        </p:txBody>
      </p:sp>
    </p:spTree>
  </p:cSld>
  <p:transition spd="med">
    <p:fade/>
  </p:transition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</a:rPr>
              <a:t>Build agentic products that can prove what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23744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7ABB7"/>
                </a:solidFill>
                <a:latin typeface="Arial"/>
              </a:rPr>
              <a:t>Evidence before completion  •  Human approval before consequence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52928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10912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68896" y="4160520"/>
            <a:ext cx="457200" cy="0"/>
          </a:xfrm>
          <a:prstGeom prst="line">
            <a:avLst/>
          </a:prstGeom>
          <a:ln w="27940">
            <a:solidFill>
              <a:srgbClr val="17AB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81328" y="3493008"/>
            <a:ext cx="1335024" cy="13350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INSPECT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3493008"/>
            <a:ext cx="1335024" cy="13350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4" name="Oval 13"/>
          <p:cNvSpPr/>
          <p:nvPr/>
        </p:nvSpPr>
        <p:spPr>
          <a:xfrm>
            <a:off x="5797296" y="3493008"/>
            <a:ext cx="1335024" cy="13350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3493008"/>
            <a:ext cx="1335024" cy="13350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493008"/>
            <a:ext cx="1335024" cy="13350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501091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513832"/>
            <a:ext cx="97383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Dr Alfred Ang  |  Tertiary Infotech Academy Pte. Ltd.
TGS-2024045799  •  v7.0  •  11 September 2026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Product Development</dc:title>
  <dc:subject>TGS-2024045799 • ICT-TEM-4035-1.1 Automation Management in Product Development</dc:subject>
  <dc:creator>Tertiary Infotech Academy Pte. Ltd.</dc:creator>
  <cp:keywords/>
  <dc:description>Highly visual mechanism-led WSQ courseware; detailed procedures are in the Learner Guide and lab PDFs.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